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623AE5-26FE-42A2-B9B7-B1ABB9CA1401}" v="1" dt="2025-07-16T08:13:37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A3E97-9134-495B-9E9E-BFAE3749AC5D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127A1-9FCC-4AFA-9E82-1316389AAB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90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127A1-9FCC-4AFA-9E82-1316389AAB3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9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E55F-95D6-40DA-02D6-62F93EEC1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7C7FF-BC53-A2F4-5B3E-06C8E2F32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88F47-5EEA-8489-1130-5C99CBB0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C289A-10A8-B762-1AB1-EDCFEC36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706C3-490B-684A-3B7B-91AE272C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15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C937-B777-BAFC-C52B-8E922EB4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254D-20C7-F49F-6753-BA7020A75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27474-1AD5-5352-43FB-BECF37CE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46575-478D-9F8B-4F6E-79315B0E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91B4-FE39-6448-FFAC-111AE7B0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4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69D5F-ABE1-A9EF-CE7D-E35136F01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C4811-0071-E8D1-B949-FA970C333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10E96-C1C7-2B3C-1E7E-0099904A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4FEA4-976A-1ECF-BAAE-06971765D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5DAD-6068-E9D1-2AAC-946049D2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4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FED5-5D68-D928-986B-BA2AB95E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40553-0609-9D6B-4D9C-9D89D4AC4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565AE-C711-E706-6FBA-3E8FFF70F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AD406-BB01-79D9-E2D0-2D6F76A6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07E30-47F3-DB89-D4B3-B06AF937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AB59F-16E7-DD0C-3B76-4413E2B4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73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0E40-7689-99DE-AD4C-F339A82C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5A87-5010-1FC5-C4FE-35CE7D15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F86AB-E51F-9827-B4DC-55F7C51E7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24C58-B1C3-D54C-936B-19F38E795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31AF4E-8EA1-A631-892D-C3317356F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96027-E2A5-98CA-67A2-02D395FD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6253F-D54C-7CD5-9DEB-FE250C4A3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B48AA-B0FB-B5F2-D77D-C06B7E33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9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DC99-F2B2-4596-55C7-E8B619C7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FD4EA-DC1F-3A37-315B-7369E5C77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5076A-8877-5328-7A00-2F36E23F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87B21-15A7-7FB1-3136-E2DB0834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0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BF78A-66DF-13D7-8A85-27B12FD3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AFCDA-357C-2500-2B67-78F96D8D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48C62-8CCC-A3AE-7628-BBB97CD3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525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C08E-9AED-47B6-E2BC-267C79C7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0447E-7EB6-4A3D-1BBB-03C8B07A4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6B7A2-6B0B-52A5-6331-3FCCFA3CC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72D2A-6FF5-9134-FDC9-20C58D4F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54E06-45ED-3030-BFE9-167C151E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DE381-2676-B862-2D2F-ECD2382F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60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A806F-2870-3055-30EC-F0F4CE5D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93E45-E2B8-9292-7D43-78BE8AC53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85D7-7E93-5C6D-31A2-708F6C6F7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DCA1F-4463-7012-A5A7-EF8B96C15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ED464-B4C9-7B31-3CC9-350AE4D2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5E826-F1BB-F9E4-6983-4B094376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86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36D79-506D-DF12-534A-C33D095D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3142F-4DF2-8A45-AD0E-E5EC39B82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84E82-C077-D52D-6E71-C59B1628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1630C-044B-5EE1-D5FE-977ADB38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DFD8A-9D0C-D603-D6A2-75441AE4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93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80FC1-0983-58D5-19DF-63241E4E3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AE035-6D4F-D23D-61F0-9F26862D3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B0D0D-DD09-92AB-0902-4D332AEF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47437-BCE0-E7C5-DAFD-31CBB07B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82DCB-01D8-D3F9-3C9E-6047603B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56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28FC65-8B50-6895-70B0-02E35C1ED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E4FA6-84B9-C493-7C50-FCB5D9BBB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8F8BF-2918-C39D-BE27-67AECE05D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187DC-28E0-4A4A-870A-B6655EBCE8E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D8D90-B468-962B-D386-812A62B9D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F6C59-76FB-F315-17B9-01211D201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5BADF-5472-48D4-B601-CFC65D1B59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0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0415-85EF-06F8-2749-DA21DD1B0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6387"/>
            <a:ext cx="9144000" cy="95357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Title</a:t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Analysis of Walmart Stores Using Advanced MySQL Techniques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006D2-198C-B9D8-C7B6-FD401DEDD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86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7E88-351B-110D-CBEE-80FDE2B4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Walmart, a major retail chain, operates across several cities, offering a wide range of products. The dataset provided contains detailed transaction data, including customer demographics, product lines, sales figures, and payment methods.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4955-0419-FB7C-E0DF-5CE1431A1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used: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MYSQL, Excel(for visuals)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sales data using SQL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30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1655-BE27-D868-50C5-E13C8458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Overview:</a:t>
            </a:r>
            <a:b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86137-BFFF-AD2B-3197-3221BE174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2320413"/>
            <a:ext cx="11277600" cy="2753032"/>
          </a:xfrm>
        </p:spPr>
      </p:pic>
    </p:spTree>
    <p:extLst>
      <p:ext uri="{BB962C8B-B14F-4D97-AF65-F5344CB8AC3E}">
        <p14:creationId xmlns:p14="http://schemas.microsoft.com/office/powerpoint/2010/main" val="380830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57F4-3A1B-E6B7-BBD1-C9B01CDD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the Top Branch by Sales Growth Rate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CD018-97CA-79C0-2203-958275F6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identify which branch has exhibited the highest sales growth over time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alter table walmartsales1 add column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date;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alter table walmartsales1 drop column date;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update walmartsales1 SET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 STR_TO_DATE(Date, '%d-%m-%Y’);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  Branch,  MONTH(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Sale_Month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sum(quantity)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Monthly_Sales_revenue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 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  Branch, month(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  Branch,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Sale_Month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calculates monthly sales and revenue per branch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53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BFB9-4266-EFBB-9C8A-F74E0E63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</a:t>
            </a:r>
            <a:b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output table we only calculate monthly sales and revenue per branch to compare growth rate we use excel charts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7F7016-C3F4-9182-E8E2-7BF2C5BD5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88" y="1960412"/>
            <a:ext cx="7708490" cy="2937175"/>
          </a:xfrm>
        </p:spPr>
      </p:pic>
    </p:spTree>
    <p:extLst>
      <p:ext uri="{BB962C8B-B14F-4D97-AF65-F5344CB8AC3E}">
        <p14:creationId xmlns:p14="http://schemas.microsoft.com/office/powerpoint/2010/main" val="288430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805E-98D1-28E5-69D5-9754DD2B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Visuals:</a:t>
            </a:r>
            <a:b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 to compare growth rate across months here are three visuals to show it better first a bar chart followed by two line charts one showing total sales and one for total revenue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D3896-BE4F-330B-FFA7-294D28F8A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1690688"/>
            <a:ext cx="11120283" cy="47101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5917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90422FA-65EC-0595-2E34-C4B83609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200906"/>
            <a:ext cx="10515600" cy="1325563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Comparison: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80FBADE9-787B-A3EB-A3D8-2FDEF6F17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736" y="1258529"/>
            <a:ext cx="7194527" cy="4849608"/>
          </a:xfrm>
        </p:spPr>
      </p:pic>
    </p:spTree>
    <p:extLst>
      <p:ext uri="{BB962C8B-B14F-4D97-AF65-F5344CB8AC3E}">
        <p14:creationId xmlns:p14="http://schemas.microsoft.com/office/powerpoint/2010/main" val="150206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0B22-0629-DF83-1AEC-0CAA12DF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Comparison: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D923E1-E332-5132-5C45-D0E1F5C3B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342" y="1435510"/>
            <a:ext cx="7118555" cy="4606516"/>
          </a:xfrm>
        </p:spPr>
      </p:pic>
    </p:spTree>
    <p:extLst>
      <p:ext uri="{BB962C8B-B14F-4D97-AF65-F5344CB8AC3E}">
        <p14:creationId xmlns:p14="http://schemas.microsoft.com/office/powerpoint/2010/main" val="1849164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4FA2-DB49-6BFD-C97F-1C801840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the Most Profitable Product Line for Each Branch</a:t>
            </a:r>
            <a:endParaRPr lang="en-IN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AD90-2964-78D7-9863-BC0E46A2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needs to determine which product line contributes the highest profit to each branch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Branch, `Product line`,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round(sum(`gross income`),2)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total_profit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branch, `product line`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branch,total_profit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all product line per branch with their revenue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8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6D1C0-B8AE-4030-F3C1-EEE31AE48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7F55B7-D9B3-3169-703E-B05D068C0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831" y="1769805"/>
            <a:ext cx="8032955" cy="4050891"/>
          </a:xfrm>
        </p:spPr>
      </p:pic>
    </p:spTree>
    <p:extLst>
      <p:ext uri="{BB962C8B-B14F-4D97-AF65-F5344CB8AC3E}">
        <p14:creationId xmlns:p14="http://schemas.microsoft.com/office/powerpoint/2010/main" val="3401443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FDFA-2497-0B69-171B-83969B004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to get only top product line per branch</a:t>
            </a:r>
            <a:b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A41DC-AABA-2041-D220-73685087A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total_profit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branch,`product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round(sum(`gross income`),2) as revenue,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rank() over(partition by branch order by sum(`gross income`) desc)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rnk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branch,`product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line`)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* from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total_profitwhere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rnk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=1;</a:t>
            </a:r>
            <a:endParaRPr lang="en-IN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73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F261-C399-2021-F364-86DD485C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6477A-2838-137D-80C5-1415628FB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232" y="1789471"/>
            <a:ext cx="5919019" cy="3333135"/>
          </a:xfrm>
        </p:spPr>
      </p:pic>
    </p:spTree>
    <p:extLst>
      <p:ext uri="{BB962C8B-B14F-4D97-AF65-F5344CB8AC3E}">
        <p14:creationId xmlns:p14="http://schemas.microsoft.com/office/powerpoint/2010/main" val="1914806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B1C8-A8CC-AE45-B196-EB71AA5A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3: </a:t>
            </a:r>
            <a:b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Customer Segmentation Based on Spending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68500-D3F6-F098-3866-D221D640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/>
              <a:t>Walmart wants to segment customers based on their average spending behavior as high, low, medium spenders</a:t>
            </a:r>
          </a:p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`customer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id`,round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(avg(total),2)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avg_total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case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when avg(Total)&lt;300 then "low“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when avg(Total) between 300 and 700 then "medium“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"high“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end as spending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`customer id`;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customers </a:t>
            </a:r>
            <a:r>
              <a:rPr lang="en-US" sz="2000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2000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high,low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medium spenders</a:t>
            </a: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6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8A77E-9734-D737-8170-1EFFBF05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4A4AA0-E378-770E-E75A-BE8731E34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761" y="1484671"/>
            <a:ext cx="6548284" cy="4050890"/>
          </a:xfrm>
        </p:spPr>
      </p:pic>
    </p:spTree>
    <p:extLst>
      <p:ext uri="{BB962C8B-B14F-4D97-AF65-F5344CB8AC3E}">
        <p14:creationId xmlns:p14="http://schemas.microsoft.com/office/powerpoint/2010/main" val="2011416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C5B2-AE9A-7705-9219-7A9C7385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Anomalies in Sales Transactions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A6339-121B-2458-63A8-5FA0A2D3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suspects that some transactions have unusually high or low sales compared to the average for the product line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create temporary table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`product line`, round(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(total),2) as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avg_sales</a:t>
            </a:r>
            <a:endParaRPr lang="en-IN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`product line`);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* from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 anomalies as (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w.`product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line`,w.`invoice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id`,w.branch,w.gender,w.`customer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id`,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w.total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Case when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w.total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avg_data.avg_sales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*1.7 then 'high anomaly’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when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w.total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avg_data.avg_sales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*.4 then 'low anomaly’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else 'normal’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end as anomaly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 w</a:t>
            </a:r>
          </a:p>
          <a:p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</a:p>
          <a:p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w.`product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 = </a:t>
            </a:r>
            <a:r>
              <a:rPr lang="en-IN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avg_data.`product</a:t>
            </a:r>
            <a:r>
              <a:rPr lang="en-IN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line`)  select * from anomalies;</a:t>
            </a:r>
          </a:p>
        </p:txBody>
      </p:sp>
    </p:spTree>
    <p:extLst>
      <p:ext uri="{BB962C8B-B14F-4D97-AF65-F5344CB8AC3E}">
        <p14:creationId xmlns:p14="http://schemas.microsoft.com/office/powerpoint/2010/main" val="3616529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1679-B206-3826-CFAC-6D2413AC0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D25E3-CAE2-0B65-F705-C107EB28D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23" y="1592826"/>
            <a:ext cx="7747819" cy="3755922"/>
          </a:xfrm>
        </p:spPr>
      </p:pic>
    </p:spTree>
    <p:extLst>
      <p:ext uri="{BB962C8B-B14F-4D97-AF65-F5344CB8AC3E}">
        <p14:creationId xmlns:p14="http://schemas.microsoft.com/office/powerpoint/2010/main" val="3817940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E20B-CA84-1942-A368-F1949A23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Popular Payment Method by City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AEE2-9FEF-1CC0-18A9-0D79308B2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needs to determine the most popular payment method in each city to tailor marketing strategies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city,payment,count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(payment)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payment_method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city,payment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city,payment_method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all type of payment method across city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51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53E2-8CA2-D88D-8FC3-E897AF31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6E514D-98C4-0483-9041-D027361A3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019" y="1861229"/>
            <a:ext cx="5486400" cy="3241713"/>
          </a:xfrm>
        </p:spPr>
      </p:pic>
    </p:spTree>
    <p:extLst>
      <p:ext uri="{BB962C8B-B14F-4D97-AF65-F5344CB8AC3E}">
        <p14:creationId xmlns:p14="http://schemas.microsoft.com/office/powerpoint/2010/main" val="1148316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1BA1-77B4-93DB-2419-EB949F4C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to see only top payment method across city: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8CB2-B4AA-11AF-94F5-F46A6DCD3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with </a:t>
            </a:r>
            <a:r>
              <a:rPr lang="en-US" sz="2000" b="1" dirty="0" err="1">
                <a:latin typeface="Consolas" panose="020B0609020204030204" pitchFamily="49" charset="0"/>
              </a:rPr>
              <a:t>payment_method</a:t>
            </a:r>
            <a:r>
              <a:rPr lang="en-US" sz="2000" b="1" dirty="0">
                <a:latin typeface="Consolas" panose="020B0609020204030204" pitchFamily="49" charset="0"/>
              </a:rPr>
              <a:t> as (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</a:rPr>
              <a:t>city,payment,count</a:t>
            </a:r>
            <a:r>
              <a:rPr lang="en-US" sz="2000" b="1" dirty="0">
                <a:latin typeface="Consolas" panose="020B0609020204030204" pitchFamily="49" charset="0"/>
              </a:rPr>
              <a:t>(*) as </a:t>
            </a:r>
            <a:r>
              <a:rPr lang="en-US" sz="2000" b="1" dirty="0" err="1">
                <a:latin typeface="Consolas" panose="020B0609020204030204" pitchFamily="49" charset="0"/>
              </a:rPr>
              <a:t>payment_type</a:t>
            </a:r>
            <a:r>
              <a:rPr lang="en-US" sz="20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rank() over( partition by city order by count(*) desc) as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</a:rPr>
              <a:t>city,payment</a:t>
            </a:r>
            <a:r>
              <a:rPr lang="en-US" sz="20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* from </a:t>
            </a:r>
            <a:r>
              <a:rPr lang="en-US" sz="2000" b="1" dirty="0" err="1">
                <a:latin typeface="Consolas" panose="020B0609020204030204" pitchFamily="49" charset="0"/>
              </a:rPr>
              <a:t>payment_method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where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r>
              <a:rPr lang="en-US" sz="2000" b="1" dirty="0">
                <a:latin typeface="Consolas" panose="020B0609020204030204" pitchFamily="49" charset="0"/>
              </a:rPr>
              <a:t>=1;</a:t>
            </a:r>
            <a:endParaRPr lang="en-IN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76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EF6C-108D-CDDD-E2E8-F03230D5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617F9B-F860-4853-27D8-63E45815D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36" y="1905286"/>
            <a:ext cx="7069393" cy="3047428"/>
          </a:xfrm>
        </p:spPr>
      </p:pic>
    </p:spTree>
    <p:extLst>
      <p:ext uri="{BB962C8B-B14F-4D97-AF65-F5344CB8AC3E}">
        <p14:creationId xmlns:p14="http://schemas.microsoft.com/office/powerpoint/2010/main" val="1618452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1A96-B3C2-F1FB-75E0-63539207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representation: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0A92E0-F55F-1E3D-172D-34C5C46C9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06" y="1690687"/>
            <a:ext cx="6853084" cy="4513467"/>
          </a:xfrm>
        </p:spPr>
      </p:pic>
    </p:spTree>
    <p:extLst>
      <p:ext uri="{BB962C8B-B14F-4D97-AF65-F5344CB8AC3E}">
        <p14:creationId xmlns:p14="http://schemas.microsoft.com/office/powerpoint/2010/main" val="251604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70E0-F8C1-80FA-84EF-237077DDC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Sales Distribution by Gender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B399-2239-7CBB-07FE-75CB3998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understand the sales distribution between male and female customers on a monthly basis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gender,month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months,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sum(quantity)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gender,months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months,gender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sales and revenue distribution between genders across various months</a:t>
            </a:r>
            <a:endParaRPr lang="en-IN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1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1A12-B9E1-3B8C-9370-A9057212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F0A058-2C51-5D0B-D87F-2C88B32BC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61" y="1690688"/>
            <a:ext cx="5604387" cy="3186112"/>
          </a:xfrm>
        </p:spPr>
      </p:pic>
    </p:spTree>
    <p:extLst>
      <p:ext uri="{BB962C8B-B14F-4D97-AF65-F5344CB8AC3E}">
        <p14:creationId xmlns:p14="http://schemas.microsoft.com/office/powerpoint/2010/main" val="625920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B900-7461-FBBA-CCD5-3BBC5DE5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Representation: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A77198-BB0C-2A0C-CFCD-0B8C07F0B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87" y="1474839"/>
            <a:ext cx="9606115" cy="4702124"/>
          </a:xfrm>
        </p:spPr>
      </p:pic>
    </p:spTree>
    <p:extLst>
      <p:ext uri="{BB962C8B-B14F-4D97-AF65-F5344CB8AC3E}">
        <p14:creationId xmlns:p14="http://schemas.microsoft.com/office/powerpoint/2010/main" val="1986656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9E834-AE33-D643-5729-78CE0F9C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Product Line by Customer Type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5A53-2D48-747A-85C9-67347FBA4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know which product lines are preferred by different customer types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  <a:endParaRPr lang="en-IN" sz="2000" b="1" dirty="0">
              <a:solidFill>
                <a:srgbClr val="0070C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,`product line`,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count(`product line`)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,`product line`;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different product line across </a:t>
            </a:r>
            <a:r>
              <a:rPr lang="en-US" sz="2000" b="1" dirty="0" err="1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endParaRPr lang="en-US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83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EBF9-17B4-BFBF-74F5-F8A93458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BB5CC3-F71E-1FDE-8841-6E97741C6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2" y="1690688"/>
            <a:ext cx="5820697" cy="3245106"/>
          </a:xfrm>
        </p:spPr>
      </p:pic>
    </p:spTree>
    <p:extLst>
      <p:ext uri="{BB962C8B-B14F-4D97-AF65-F5344CB8AC3E}">
        <p14:creationId xmlns:p14="http://schemas.microsoft.com/office/powerpoint/2010/main" val="441283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ABFC-85FD-64EF-908A-78743A3F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 to get only top product line for </a:t>
            </a:r>
            <a:r>
              <a:rPr lang="en-IN" sz="2000" b="1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customertype</a:t>
            </a:r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9D4E3-B801-AA96-683E-DD4D60AF4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with customer as (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</a:rPr>
              <a:t>,`product line`,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count(*) as </a:t>
            </a:r>
            <a:r>
              <a:rPr lang="en-US" sz="2000" b="1" dirty="0" err="1">
                <a:latin typeface="Consolas" panose="020B0609020204030204" pitchFamily="49" charset="0"/>
              </a:rPr>
              <a:t>product_count</a:t>
            </a:r>
            <a:r>
              <a:rPr lang="en-US" sz="2000" b="1" dirty="0">
                <a:latin typeface="Consolas" panose="020B0609020204030204" pitchFamily="49" charset="0"/>
              </a:rPr>
              <a:t>,</a:t>
            </a:r>
          </a:p>
          <a:p>
            <a:r>
              <a:rPr lang="en-US" sz="2000" b="1" dirty="0" err="1">
                <a:latin typeface="Consolas" panose="020B0609020204030204" pitchFamily="49" charset="0"/>
              </a:rPr>
              <a:t>row_number</a:t>
            </a:r>
            <a:r>
              <a:rPr lang="en-US" sz="2000" b="1" dirty="0">
                <a:latin typeface="Consolas" panose="020B0609020204030204" pitchFamily="49" charset="0"/>
              </a:rPr>
              <a:t>() over(partition by </a:t>
            </a:r>
            <a:r>
              <a:rPr lang="en-US" sz="2000" b="1" dirty="0" err="1">
                <a:latin typeface="Consolas" panose="020B0609020204030204" pitchFamily="49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</a:rPr>
              <a:t> order by count(*) desc) as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endParaRPr lang="en-US" sz="2000" b="1" dirty="0">
              <a:latin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group by </a:t>
            </a:r>
            <a:r>
              <a:rPr lang="en-US" sz="2000" b="1" dirty="0" err="1">
                <a:latin typeface="Consolas" panose="020B0609020204030204" pitchFamily="49" charset="0"/>
              </a:rPr>
              <a:t>customertype</a:t>
            </a:r>
            <a:r>
              <a:rPr lang="en-US" sz="2000" b="1" dirty="0">
                <a:latin typeface="Consolas" panose="020B0609020204030204" pitchFamily="49" charset="0"/>
              </a:rPr>
              <a:t>,`product line`)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select * from customer </a:t>
            </a:r>
          </a:p>
          <a:p>
            <a:r>
              <a:rPr lang="en-US" sz="2000" b="1" dirty="0">
                <a:latin typeface="Consolas" panose="020B0609020204030204" pitchFamily="49" charset="0"/>
              </a:rPr>
              <a:t>where </a:t>
            </a:r>
            <a:r>
              <a:rPr lang="en-US" sz="2000" b="1" dirty="0" err="1">
                <a:latin typeface="Consolas" panose="020B0609020204030204" pitchFamily="49" charset="0"/>
              </a:rPr>
              <a:t>rnk</a:t>
            </a:r>
            <a:r>
              <a:rPr lang="en-US" sz="2000" b="1" dirty="0">
                <a:latin typeface="Consolas" panose="020B0609020204030204" pitchFamily="49" charset="0"/>
              </a:rPr>
              <a:t>=1;</a:t>
            </a:r>
            <a:endParaRPr lang="en-IN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45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7138-3C3E-FD91-06BA-24C56AD6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D03BF4-D539-590C-0F1A-207371E26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933549"/>
            <a:ext cx="4876800" cy="1495451"/>
          </a:xfrm>
        </p:spPr>
      </p:pic>
    </p:spTree>
    <p:extLst>
      <p:ext uri="{BB962C8B-B14F-4D97-AF65-F5344CB8AC3E}">
        <p14:creationId xmlns:p14="http://schemas.microsoft.com/office/powerpoint/2010/main" val="2044768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9E2F-5406-32C2-558D-24A3FD27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8: </a:t>
            </a:r>
            <a:b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Repeat Customers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24604-088D-F19E-455E-8C1A125F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needs to identify customers who made repeat purchases within a specific time frame e.g., within 30 days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repeat_cust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(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 as purchase_1,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 as purchase_2,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purchase_date_1,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as purchase_date_2,</a:t>
            </a:r>
          </a:p>
          <a:p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datediff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b.new_date,w.new_date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days_difference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 w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walmartsales1 b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id`=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where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w.new_date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* from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repeat_cust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days_difference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&lt;=30;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customers who make a repeat purchase within 30 days of first purchase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02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F773-77C4-BC88-90A9-CC6C2212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B95C80-E868-614E-E12A-1CCFE6552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968" y="1612496"/>
            <a:ext cx="7197213" cy="3480613"/>
          </a:xfrm>
        </p:spPr>
      </p:pic>
    </p:spTree>
    <p:extLst>
      <p:ext uri="{BB962C8B-B14F-4D97-AF65-F5344CB8AC3E}">
        <p14:creationId xmlns:p14="http://schemas.microsoft.com/office/powerpoint/2010/main" val="175111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5ECAD-E1FF-5C41-B618-32F84719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Top 5 Customers by Sales Volume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B769B-9558-D262-1E16-6B262ADBD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reward its top 5 customers who have generated the most sales Revenue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`customer id`,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sales_revenue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by`customer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id`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sales_revenue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 limit 5;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top 5 customers based on their purchases</a:t>
            </a:r>
            <a:endParaRPr lang="en-IN" sz="2000" b="1" dirty="0">
              <a:solidFill>
                <a:srgbClr val="00B0F0"/>
              </a:solidFill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37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743A-1C38-3A23-3039-E119A4ED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094E3-F42E-835B-9543-EC039E1B9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317" y="1690688"/>
            <a:ext cx="4778476" cy="2573818"/>
          </a:xfrm>
        </p:spPr>
      </p:pic>
    </p:spTree>
    <p:extLst>
      <p:ext uri="{BB962C8B-B14F-4D97-AF65-F5344CB8AC3E}">
        <p14:creationId xmlns:p14="http://schemas.microsoft.com/office/powerpoint/2010/main" val="23987630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898D-7E88-C5D5-D5BE-6033F31B7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10: </a:t>
            </a:r>
            <a:b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Sales Trends by Day of the Week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38F3-6DB8-0F5A-7279-FC5F947B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Walmart wants to analyze the sales patterns to determine which day of the week brings the highest sales</a:t>
            </a:r>
          </a:p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Query</a:t>
            </a:r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SELECT   DAYNAME(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new_date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Day_Of_Week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COUNT(*)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No_Of_Transactions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sum(quantity)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ROUND(AVG(Total), 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Avg_Sale_Per_Transaction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,  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round(SUM(Total),2) AS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Total_Sales_revenue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FROM   walmartsales1</a:t>
            </a: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GROUP BY  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Day_Of_Week</a:t>
            </a:r>
            <a:endParaRPr lang="en-US" sz="2000" b="1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ORDER BY   </a:t>
            </a:r>
            <a:r>
              <a:rPr lang="en-US" sz="2000" b="1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Total_Sales</a:t>
            </a:r>
            <a:r>
              <a:rPr lang="en-US" sz="20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DESC;</a:t>
            </a:r>
          </a:p>
          <a:p>
            <a:r>
              <a:rPr lang="en-US" sz="2000" b="1" dirty="0">
                <a:solidFill>
                  <a:srgbClr val="00B0F0"/>
                </a:solidFill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This query will give us all data related to a single day whether it is total transactions, total sales, total revenue</a:t>
            </a:r>
          </a:p>
        </p:txBody>
      </p:sp>
    </p:spTree>
    <p:extLst>
      <p:ext uri="{BB962C8B-B14F-4D97-AF65-F5344CB8AC3E}">
        <p14:creationId xmlns:p14="http://schemas.microsoft.com/office/powerpoint/2010/main" val="155469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10E4-D565-8743-7C6A-3CBC497C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Table: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F53BAA-4062-9C96-4FE4-90AFE9484D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81" y="2075441"/>
            <a:ext cx="7708490" cy="2988172"/>
          </a:xfrm>
        </p:spPr>
      </p:pic>
    </p:spTree>
    <p:extLst>
      <p:ext uri="{BB962C8B-B14F-4D97-AF65-F5344CB8AC3E}">
        <p14:creationId xmlns:p14="http://schemas.microsoft.com/office/powerpoint/2010/main" val="2306051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C13A-B002-81AD-DE29-2D065233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Representation: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A74367-DBDD-C89F-8C32-650A7FED0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09" y="1540953"/>
            <a:ext cx="10724535" cy="4584544"/>
          </a:xfrm>
        </p:spPr>
      </p:pic>
    </p:spTree>
    <p:extLst>
      <p:ext uri="{BB962C8B-B14F-4D97-AF65-F5344CB8AC3E}">
        <p14:creationId xmlns:p14="http://schemas.microsoft.com/office/powerpoint/2010/main" val="304913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832D-E31B-3AF0-6BA1-DBB125B1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6DB1C-205F-0E72-2E8B-900902541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 CSV file to MYSQL Workbench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date and int columns </a:t>
            </a:r>
          </a:p>
        </p:txBody>
      </p:sp>
    </p:spTree>
    <p:extLst>
      <p:ext uri="{BB962C8B-B14F-4D97-AF65-F5344CB8AC3E}">
        <p14:creationId xmlns:p14="http://schemas.microsoft.com/office/powerpoint/2010/main" val="151856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51DC-2DC8-03DB-3BDE-A2DC5D2B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Learnings AND 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AF37-713C-F983-80A7-34D90DFB7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 functions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Joins, Temporary Table, many more SQL keywords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insights:</a:t>
            </a:r>
          </a:p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our findings we can say that Females generating more revenue comparing to Men’s,</a:t>
            </a:r>
          </a:p>
          <a:p>
            <a:r>
              <a:rPr lang="en-IN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 weekends have generally more sales producing more revenue</a:t>
            </a:r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73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456B-7D0C-AEF7-06C4-EF219D75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Thank You</a:t>
            </a:r>
            <a:b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</a:t>
            </a:r>
            <a:endParaRPr lang="en-IN" sz="2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454F2-CFDA-512C-2DE8-EDFDAB47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By</a:t>
            </a:r>
            <a:b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GAJRAJ THUKRAN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8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1554</Words>
  <Application>Microsoft Office PowerPoint</Application>
  <PresentationFormat>Widescreen</PresentationFormat>
  <Paragraphs>190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Office Theme</vt:lpstr>
      <vt:lpstr>Project Title  Sales Performance Analysis of Walmart Stores Using Advanced MySQL Techniques</vt:lpstr>
      <vt:lpstr> Introduction: Walmart, a major retail chain, operates across several cities, offering a wide range of products. The dataset provided contains detailed transaction data, including customer demographics, product lines, sales figures, and payment methods. </vt:lpstr>
      <vt:lpstr>Dataset Overview: </vt:lpstr>
      <vt:lpstr>Task 1:  Identifying the Top Branch by Sales Growth Rate </vt:lpstr>
      <vt:lpstr>Output Table In the output table we only calculate monthly sales and revenue per branch to compare growth rate we use excel charts</vt:lpstr>
      <vt:lpstr>Visuals: So to compare growth rate across months here are three visuals to show it better first a bar chart followed by two line charts one showing total sales and one for total revenue</vt:lpstr>
      <vt:lpstr>Revenue Comparison:</vt:lpstr>
      <vt:lpstr>Sales Comparison:</vt:lpstr>
      <vt:lpstr>Task 2:  Finding the Most Profitable Product Line for Each Branch</vt:lpstr>
      <vt:lpstr>Output Table:</vt:lpstr>
      <vt:lpstr>SQL Query to get only top product line per branch </vt:lpstr>
      <vt:lpstr>Output Table:</vt:lpstr>
      <vt:lpstr>Task 3:  Analyzing Customer Segmentation Based on Spending</vt:lpstr>
      <vt:lpstr>Output Table:</vt:lpstr>
      <vt:lpstr>Task 4:  Detecting Anomalies in Sales Transactions</vt:lpstr>
      <vt:lpstr>Output Table:</vt:lpstr>
      <vt:lpstr>Task 5:  Most Popular Payment Method by City</vt:lpstr>
      <vt:lpstr>Output Table:</vt:lpstr>
      <vt:lpstr>SQL Query to see only top payment method across city:</vt:lpstr>
      <vt:lpstr>Output Table:</vt:lpstr>
      <vt:lpstr>Visual representation:</vt:lpstr>
      <vt:lpstr>Task 6:  Monthly Sales Distribution by Gender</vt:lpstr>
      <vt:lpstr>Output Table:</vt:lpstr>
      <vt:lpstr>Visual Representation:</vt:lpstr>
      <vt:lpstr>Task 7:  Best Product Line by Customer Type </vt:lpstr>
      <vt:lpstr>Output Table:</vt:lpstr>
      <vt:lpstr>SQL Query to get only top product line for customertype:</vt:lpstr>
      <vt:lpstr>Output Table:</vt:lpstr>
      <vt:lpstr>Task 8:  Identifying Repeat Customers</vt:lpstr>
      <vt:lpstr>Output Table:</vt:lpstr>
      <vt:lpstr>Task 9:  Finding Top 5 Customers by Sales Volume</vt:lpstr>
      <vt:lpstr>Output Table:</vt:lpstr>
      <vt:lpstr>Task 10:  Analyzing Sales Trends by Day of the Week</vt:lpstr>
      <vt:lpstr>Output Table:</vt:lpstr>
      <vt:lpstr>Visual Representation:</vt:lpstr>
      <vt:lpstr>Challenges Faced:</vt:lpstr>
      <vt:lpstr>Learnings AND Conclusion:</vt:lpstr>
      <vt:lpstr>                                                                            Thank You           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gajrajthukran@gmail.com</dc:creator>
  <cp:lastModifiedBy>gajrajthukran@gmail.com</cp:lastModifiedBy>
  <cp:revision>2</cp:revision>
  <dcterms:created xsi:type="dcterms:W3CDTF">2025-07-15T18:48:00Z</dcterms:created>
  <dcterms:modified xsi:type="dcterms:W3CDTF">2026-03-27T09:30:58Z</dcterms:modified>
</cp:coreProperties>
</file>